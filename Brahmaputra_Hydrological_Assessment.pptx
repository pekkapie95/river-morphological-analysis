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645920"/>
            <a:ext cx="8229600" cy="1371600"/>
          </a:xfrm>
          <a:prstGeom prst="rect">
            <a:avLst/>
          </a:prstGeom>
          <a:noFill/>
        </p:spPr>
        <p:txBody>
          <a:bodyPr wrap="none">
            <a:spAutoFit/>
          </a:bodyPr>
          <a:lstStyle/>
          <a:p>
            <a:pPr>
              <a:defRPr sz="3200" b="1">
                <a:solidFill>
                  <a:srgbClr val="F1F5F9"/>
                </a:solidFill>
                <a:latin typeface="Arial"/>
              </a:defRPr>
            </a:pPr>
            <a:r>
              <a:t>Hydrological &amp; Morphological Assessment</a:t>
            </a:r>
            <a:br/>
            <a:r>
              <a:t>of the Brahmaputra River</a:t>
            </a:r>
          </a:p>
          <a:p>
            <a:pPr>
              <a:spcBef>
                <a:spcPts val="1000"/>
              </a:spcBef>
              <a:defRPr sz="1400">
                <a:solidFill>
                  <a:srgbClr val="0EA5E9"/>
                </a:solidFill>
                <a:latin typeface="Arial"/>
              </a:defRPr>
            </a:pPr>
            <a:r>
              <a:t>Multi-Temporal Channel Migration Mapping &amp; Comparative Scour Depth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
            <a:ext cx="8229600" cy="274320"/>
          </a:xfrm>
          <a:prstGeom prst="rect">
            <a:avLst/>
          </a:prstGeom>
          <a:noFill/>
        </p:spPr>
        <p:txBody>
          <a:bodyPr wrap="square">
            <a:spAutoFit/>
          </a:bodyPr>
          <a:lstStyle/>
          <a:p>
            <a:pPr>
              <a:defRPr sz="900" b="1">
                <a:solidFill>
                  <a:srgbClr val="0EA5E9"/>
                </a:solidFill>
                <a:latin typeface="Arial"/>
              </a:defRPr>
            </a:pPr>
            <a:r>
              <a:t>HYDROLOGICAL ASSESSMENT</a:t>
            </a:r>
          </a:p>
        </p:txBody>
      </p:sp>
      <p:sp>
        <p:nvSpPr>
          <p:cNvPr id="3" name="TextBox 2"/>
          <p:cNvSpPr txBox="1"/>
          <p:nvPr/>
        </p:nvSpPr>
        <p:spPr>
          <a:xfrm>
            <a:off x="457200" y="365760"/>
            <a:ext cx="8229600" cy="548640"/>
          </a:xfrm>
          <a:prstGeom prst="rect">
            <a:avLst/>
          </a:prstGeom>
          <a:noFill/>
        </p:spPr>
        <p:txBody>
          <a:bodyPr wrap="square">
            <a:spAutoFit/>
          </a:bodyPr>
          <a:lstStyle/>
          <a:p>
            <a:pPr>
              <a:defRPr sz="2200" b="1">
                <a:solidFill>
                  <a:srgbClr val="F1F5F9"/>
                </a:solidFill>
                <a:latin typeface="Arial"/>
              </a:defRPr>
            </a:pPr>
            <a:r>
              <a:t>Methodology &amp; Theoretical Framework</a:t>
            </a:r>
          </a:p>
        </p:txBody>
      </p:sp>
      <p:sp>
        <p:nvSpPr>
          <p:cNvPr id="4" name="TextBox 3"/>
          <p:cNvSpPr txBox="1"/>
          <p:nvPr/>
        </p:nvSpPr>
        <p:spPr>
          <a:xfrm>
            <a:off x="457200" y="1188720"/>
            <a:ext cx="3840480" cy="3474720"/>
          </a:xfrm>
          <a:prstGeom prst="rect">
            <a:avLst/>
          </a:prstGeom>
          <a:noFill/>
        </p:spPr>
        <p:txBody>
          <a:bodyPr wrap="square">
            <a:spAutoFit/>
          </a:bodyPr>
          <a:lstStyle/>
          <a:p>
            <a:pPr>
              <a:defRPr b="1" sz="1400">
                <a:solidFill>
                  <a:srgbClr val="0EA5E9"/>
                </a:solidFill>
              </a:defRPr>
            </a:pPr>
            <a:r>
              <a:t>1. GIS &amp; Remote Sensing Workflow</a:t>
            </a:r>
          </a:p>
          <a:p>
            <a:pPr>
              <a:spcBef>
                <a:spcPts val="600"/>
              </a:spcBef>
              <a:defRPr sz="1100">
                <a:solidFill>
                  <a:srgbClr val="F1F5F9"/>
                </a:solidFill>
              </a:defRPr>
            </a:pPr>
            <a:r>
              <a:t>• Satellite Source: Sentinel-2 Multispectral Instrument (MSI) Harmonized Level-2A surface reflectance data.</a:t>
            </a:r>
          </a:p>
          <a:p>
            <a:pPr>
              <a:spcBef>
                <a:spcPts val="600"/>
              </a:spcBef>
              <a:defRPr sz="1100">
                <a:solidFill>
                  <a:srgbClr val="F1F5F9"/>
                </a:solidFill>
              </a:defRPr>
            </a:pPr>
            <a:r>
              <a:t>• Temporal Windows: Comparative analysis between Winter 2019-2020 and Winter 2023-2024 to map seasonal low-flows.</a:t>
            </a:r>
          </a:p>
          <a:p>
            <a:pPr>
              <a:spcBef>
                <a:spcPts val="600"/>
              </a:spcBef>
              <a:defRPr sz="1100">
                <a:solidFill>
                  <a:srgbClr val="F1F5F9"/>
                </a:solidFill>
              </a:defRPr>
            </a:pPr>
            <a:r>
              <a:t>• Water Extraction: Normalized Difference Water Index (NDWI) thresholding (&gt;0) to extract active channel limits.</a:t>
            </a:r>
          </a:p>
          <a:p>
            <a:pPr>
              <a:spcBef>
                <a:spcPts val="600"/>
              </a:spcBef>
              <a:defRPr sz="1100">
                <a:solidFill>
                  <a:srgbClr val="F1F5F9"/>
                </a:solidFill>
              </a:defRPr>
            </a:pPr>
            <a:r>
              <a:t>• Channel Cleaning: Connected pixel count filter (&gt;=100 pixels / 1 ha) to remove isolated ponds, agricultural noise.</a:t>
            </a:r>
          </a:p>
          <a:p>
            <a:pPr>
              <a:spcBef>
                <a:spcPts val="600"/>
              </a:spcBef>
              <a:defRPr sz="1100">
                <a:solidFill>
                  <a:srgbClr val="F1F5F9"/>
                </a:solidFill>
              </a:defRPr>
            </a:pPr>
            <a:r>
              <a:t>• Migration Analysis: Map Algebra subtraction (2023 - 2019) to isolate stable channel, erosion, and accretion zones.</a:t>
            </a:r>
          </a:p>
        </p:txBody>
      </p:sp>
      <p:sp>
        <p:nvSpPr>
          <p:cNvPr id="5" name="TextBox 4"/>
          <p:cNvSpPr txBox="1"/>
          <p:nvPr/>
        </p:nvSpPr>
        <p:spPr>
          <a:xfrm>
            <a:off x="4846320" y="1188720"/>
            <a:ext cx="3840480" cy="3474720"/>
          </a:xfrm>
          <a:prstGeom prst="rect">
            <a:avLst/>
          </a:prstGeom>
          <a:noFill/>
        </p:spPr>
        <p:txBody>
          <a:bodyPr wrap="square">
            <a:spAutoFit/>
          </a:bodyPr>
          <a:lstStyle/>
          <a:p>
            <a:pPr>
              <a:defRPr b="1" sz="1400">
                <a:solidFill>
                  <a:srgbClr val="00FF88"/>
                </a:solidFill>
              </a:defRPr>
            </a:pPr>
            <a:r>
              <a:t>2. Scour Depth Formulations</a:t>
            </a:r>
          </a:p>
          <a:p>
            <a:pPr>
              <a:spcBef>
                <a:spcPts val="600"/>
              </a:spcBef>
              <a:defRPr sz="1100">
                <a:solidFill>
                  <a:srgbClr val="F1F5F9"/>
                </a:solidFill>
              </a:defRPr>
            </a:pPr>
            <a:r>
              <a:t>• Lacey's Regime Scour: Relies on discharge per unit width (q) and silt factor (f). Evaluates general scour in uniform alluvial channels.</a:t>
            </a:r>
          </a:p>
          <a:p>
            <a:pPr>
              <a:spcBef>
                <a:spcPts val="600"/>
              </a:spcBef>
              <a:defRPr sz="1100">
                <a:solidFill>
                  <a:srgbClr val="F1F5F9"/>
                </a:solidFill>
              </a:defRPr>
            </a:pPr>
            <a:r>
              <a:t>• Blench's Method: Introduces a bed factor (Fb) to represent bed sediment characteristics, separating it from side shear factors.</a:t>
            </a:r>
          </a:p>
          <a:p>
            <a:pPr>
              <a:spcBef>
                <a:spcPts val="600"/>
              </a:spcBef>
              <a:defRPr sz="1100">
                <a:solidFill>
                  <a:srgbClr val="F1F5F9"/>
                </a:solidFill>
              </a:defRPr>
            </a:pPr>
            <a:r>
              <a:t>• Flow Multipliers: Normal scour depth (R) is adjusted based on local reach geometries to find maximum scour (R_max):</a:t>
            </a:r>
          </a:p>
          <a:p>
            <a:pPr>
              <a:spcBef>
                <a:spcPts val="600"/>
              </a:spcBef>
              <a:defRPr sz="1100">
                <a:solidFill>
                  <a:srgbClr val="F1F5F9"/>
                </a:solidFill>
              </a:defRPr>
            </a:pPr>
            <a:r>
              <a:t>•    - Straight Stable Reach: 1.27R</a:t>
            </a:r>
          </a:p>
          <a:p>
            <a:pPr>
              <a:spcBef>
                <a:spcPts val="600"/>
              </a:spcBef>
              <a:defRPr sz="1100">
                <a:solidFill>
                  <a:srgbClr val="F1F5F9"/>
                </a:solidFill>
              </a:defRPr>
            </a:pPr>
            <a:r>
              <a:t>•    - Moderate Bend: 1.50R</a:t>
            </a:r>
          </a:p>
          <a:p>
            <a:pPr>
              <a:spcBef>
                <a:spcPts val="600"/>
              </a:spcBef>
              <a:defRPr sz="1100">
                <a:solidFill>
                  <a:srgbClr val="F1F5F9"/>
                </a:solidFill>
              </a:defRPr>
            </a:pPr>
            <a:r>
              <a:t>•    - Severe Bend / Erosion Zone: 2.00R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
            <a:ext cx="8229600" cy="274320"/>
          </a:xfrm>
          <a:prstGeom prst="rect">
            <a:avLst/>
          </a:prstGeom>
          <a:noFill/>
        </p:spPr>
        <p:txBody>
          <a:bodyPr wrap="square">
            <a:spAutoFit/>
          </a:bodyPr>
          <a:lstStyle/>
          <a:p>
            <a:pPr>
              <a:defRPr sz="900" b="1">
                <a:solidFill>
                  <a:srgbClr val="0EA5E9"/>
                </a:solidFill>
                <a:latin typeface="Arial"/>
              </a:defRPr>
            </a:pPr>
            <a:r>
              <a:t>MORPHOLOGICAL PARAMETERS</a:t>
            </a:r>
          </a:p>
        </p:txBody>
      </p:sp>
      <p:sp>
        <p:nvSpPr>
          <p:cNvPr id="3" name="TextBox 2"/>
          <p:cNvSpPr txBox="1"/>
          <p:nvPr/>
        </p:nvSpPr>
        <p:spPr>
          <a:xfrm>
            <a:off x="457200" y="365760"/>
            <a:ext cx="8229600" cy="548640"/>
          </a:xfrm>
          <a:prstGeom prst="rect">
            <a:avLst/>
          </a:prstGeom>
          <a:noFill/>
        </p:spPr>
        <p:txBody>
          <a:bodyPr wrap="square">
            <a:spAutoFit/>
          </a:bodyPr>
          <a:lstStyle/>
          <a:p>
            <a:pPr>
              <a:defRPr sz="2200" b="1">
                <a:solidFill>
                  <a:srgbClr val="F1F5F9"/>
                </a:solidFill>
                <a:latin typeface="Arial"/>
              </a:defRPr>
            </a:pPr>
            <a:r>
              <a:t>Problem 1: River Morphological Parameters</a:t>
            </a:r>
          </a:p>
        </p:txBody>
      </p:sp>
      <p:sp>
        <p:nvSpPr>
          <p:cNvPr id="4" name="TextBox 3"/>
          <p:cNvSpPr txBox="1"/>
          <p:nvPr/>
        </p:nvSpPr>
        <p:spPr>
          <a:xfrm>
            <a:off x="457200" y="1188720"/>
            <a:ext cx="4114800" cy="3474720"/>
          </a:xfrm>
          <a:prstGeom prst="rect">
            <a:avLst/>
          </a:prstGeom>
          <a:noFill/>
        </p:spPr>
        <p:txBody>
          <a:bodyPr wrap="square">
            <a:spAutoFit/>
          </a:bodyPr>
          <a:lstStyle/>
          <a:p>
            <a:pPr>
              <a:defRPr b="1" sz="1400">
                <a:solidFill>
                  <a:srgbClr val="0EA5E9"/>
                </a:solidFill>
              </a:defRPr>
            </a:pPr>
            <a:r>
              <a:t>Quantitative Morphological Changes</a:t>
            </a:r>
          </a:p>
          <a:p>
            <a:pPr>
              <a:spcBef>
                <a:spcPts val="800"/>
              </a:spcBef>
              <a:defRPr sz="1100">
                <a:solidFill>
                  <a:srgbClr val="F1F5F9"/>
                </a:solidFill>
              </a:defRPr>
            </a:pPr>
            <a:r>
              <a:t>• Surface Water Area: Water surface area within the 80 km reach decreased from 248.75 km² in 2019 to 222.75 km² in 2023 (a 10.45% reduction).</a:t>
            </a:r>
          </a:p>
          <a:p>
            <a:pPr>
              <a:spcBef>
                <a:spcPts val="800"/>
              </a:spcBef>
              <a:defRPr sz="1100">
                <a:solidFill>
                  <a:srgbClr val="F1F5F9"/>
                </a:solidFill>
              </a:defRPr>
            </a:pPr>
            <a:r>
              <a:t>• Average Channel Width: The reach-averaged width contracted from 3109.34 meters to 2784.38 meters.</a:t>
            </a:r>
          </a:p>
          <a:p>
            <a:pPr>
              <a:spcBef>
                <a:spcPts val="800"/>
              </a:spcBef>
              <a:defRPr sz="1100">
                <a:solidFill>
                  <a:srgbClr val="F1F5F9"/>
                </a:solidFill>
              </a:defRPr>
            </a:pPr>
            <a:r>
              <a:t>• River Condition: The satellite data represents winter low-flow conditions, showing that during the dry season, the active water corridor contracted.</a:t>
            </a:r>
          </a:p>
          <a:p>
            <a:pPr>
              <a:spcBef>
                <a:spcPts val="800"/>
              </a:spcBef>
              <a:defRPr sz="1100">
                <a:solidFill>
                  <a:srgbClr val="F1F5F9"/>
                </a:solidFill>
              </a:defRPr>
            </a:pPr>
            <a:r>
              <a:t>• Hydrological Significance: This contraction highlights significant sediment deposition (sandbar growth) and lateral shifting of braided channels during low-flow cycles.</a:t>
            </a:r>
          </a:p>
        </p:txBody>
      </p:sp>
      <p:graphicFrame>
        <p:nvGraphicFramePr>
          <p:cNvPr id="5" name="Table 4"/>
          <p:cNvGraphicFramePr>
            <a:graphicFrameLocks noGrp="1"/>
          </p:cNvGraphicFramePr>
          <p:nvPr/>
        </p:nvGraphicFramePr>
        <p:xfrm>
          <a:off x="4846320" y="1188720"/>
          <a:ext cx="3840480" cy="1097280"/>
        </p:xfrm>
        <a:graphic>
          <a:graphicData uri="http://schemas.openxmlformats.org/drawingml/2006/table">
            <a:tbl>
              <a:tblPr firstRow="1" bandRow="1">
                <a:tableStyleId>{5C22544A-7EE6-4342-B048-85BDC9FD1C3A}</a:tableStyleId>
              </a:tblPr>
              <a:tblGrid>
                <a:gridCol w="1280160"/>
                <a:gridCol w="1280160"/>
                <a:gridCol w="1280160"/>
              </a:tblGrid>
              <a:tr h="365760">
                <a:tc>
                  <a:txBody>
                    <a:bodyPr/>
                    <a:lstStyle/>
                    <a:p>
                      <a:pPr>
                        <a:defRPr b="1" sz="1000">
                          <a:solidFill>
                            <a:srgbClr val="0EA5E9"/>
                          </a:solidFill>
                        </a:defRPr>
                      </a:pPr>
                      <a:r>
                        <a:t>Parameter</a:t>
                      </a:r>
                    </a:p>
                  </a:txBody>
                  <a:tcPr>
                    <a:solidFill>
                      <a:srgbClr val="1E293B"/>
                    </a:solidFill>
                  </a:tcPr>
                </a:tc>
                <a:tc>
                  <a:txBody>
                    <a:bodyPr/>
                    <a:lstStyle/>
                    <a:p>
                      <a:pPr>
                        <a:defRPr b="1" sz="1000">
                          <a:solidFill>
                            <a:srgbClr val="0EA5E9"/>
                          </a:solidFill>
                        </a:defRPr>
                      </a:pPr>
                      <a:r>
                        <a:t>Winter 2019</a:t>
                      </a:r>
                    </a:p>
                  </a:txBody>
                  <a:tcPr>
                    <a:solidFill>
                      <a:srgbClr val="1E293B"/>
                    </a:solidFill>
                  </a:tcPr>
                </a:tc>
                <a:tc>
                  <a:txBody>
                    <a:bodyPr/>
                    <a:lstStyle/>
                    <a:p>
                      <a:pPr>
                        <a:defRPr b="1" sz="1000">
                          <a:solidFill>
                            <a:srgbClr val="0EA5E9"/>
                          </a:solidFill>
                        </a:defRPr>
                      </a:pPr>
                      <a:r>
                        <a:t>Winter 2023</a:t>
                      </a:r>
                    </a:p>
                  </a:txBody>
                  <a:tcPr>
                    <a:solidFill>
                      <a:srgbClr val="1E293B"/>
                    </a:solidFill>
                  </a:tcPr>
                </a:tc>
              </a:tr>
              <a:tr h="365760">
                <a:tc>
                  <a:txBody>
                    <a:bodyPr/>
                    <a:lstStyle/>
                    <a:p>
                      <a:pPr>
                        <a:defRPr sz="1000">
                          <a:solidFill>
                            <a:srgbClr val="F1F5F9"/>
                          </a:solidFill>
                        </a:defRPr>
                      </a:pPr>
                      <a:r>
                        <a:t>Water Area (km²)</a:t>
                      </a:r>
                    </a:p>
                  </a:txBody>
                  <a:tcPr>
                    <a:solidFill>
                      <a:srgbClr val="1E293B"/>
                    </a:solidFill>
                  </a:tcPr>
                </a:tc>
                <a:tc>
                  <a:txBody>
                    <a:bodyPr/>
                    <a:lstStyle/>
                    <a:p>
                      <a:pPr>
                        <a:defRPr sz="1000">
                          <a:solidFill>
                            <a:srgbClr val="F1F5F9"/>
                          </a:solidFill>
                        </a:defRPr>
                      </a:pPr>
                      <a:r>
                        <a:t>248.75</a:t>
                      </a:r>
                    </a:p>
                  </a:txBody>
                  <a:tcPr>
                    <a:solidFill>
                      <a:srgbClr val="1E293B"/>
                    </a:solidFill>
                  </a:tcPr>
                </a:tc>
                <a:tc>
                  <a:txBody>
                    <a:bodyPr/>
                    <a:lstStyle/>
                    <a:p>
                      <a:pPr>
                        <a:defRPr sz="1000">
                          <a:solidFill>
                            <a:srgbClr val="F1F5F9"/>
                          </a:solidFill>
                        </a:defRPr>
                      </a:pPr>
                      <a:r>
                        <a:t>222.75</a:t>
                      </a:r>
                    </a:p>
                  </a:txBody>
                  <a:tcPr>
                    <a:solidFill>
                      <a:srgbClr val="1E293B"/>
                    </a:solidFill>
                  </a:tcPr>
                </a:tc>
              </a:tr>
              <a:tr h="365760">
                <a:tc>
                  <a:txBody>
                    <a:bodyPr/>
                    <a:lstStyle/>
                    <a:p>
                      <a:pPr>
                        <a:defRPr sz="1000">
                          <a:solidFill>
                            <a:srgbClr val="F1F5F9"/>
                          </a:solidFill>
                        </a:defRPr>
                      </a:pPr>
                      <a:r>
                        <a:t>Avg Width (m)</a:t>
                      </a:r>
                    </a:p>
                  </a:txBody>
                  <a:tcPr>
                    <a:solidFill>
                      <a:srgbClr val="1E293B"/>
                    </a:solidFill>
                  </a:tcPr>
                </a:tc>
                <a:tc>
                  <a:txBody>
                    <a:bodyPr/>
                    <a:lstStyle/>
                    <a:p>
                      <a:pPr>
                        <a:defRPr sz="1000">
                          <a:solidFill>
                            <a:srgbClr val="F1F5F9"/>
                          </a:solidFill>
                        </a:defRPr>
                      </a:pPr>
                      <a:r>
                        <a:t>3109.3</a:t>
                      </a:r>
                    </a:p>
                  </a:txBody>
                  <a:tcPr>
                    <a:solidFill>
                      <a:srgbClr val="1E293B"/>
                    </a:solidFill>
                  </a:tcPr>
                </a:tc>
                <a:tc>
                  <a:txBody>
                    <a:bodyPr/>
                    <a:lstStyle/>
                    <a:p>
                      <a:pPr>
                        <a:defRPr sz="1000">
                          <a:solidFill>
                            <a:srgbClr val="F1F5F9"/>
                          </a:solidFill>
                        </a:defRPr>
                      </a:pPr>
                      <a:r>
                        <a:t>2784.4</a:t>
                      </a:r>
                    </a:p>
                  </a:txBody>
                  <a:tcPr>
                    <a:solidFill>
                      <a:srgbClr val="1E293B"/>
                    </a:solidFill>
                  </a:tcPr>
                </a:tc>
              </a:tr>
            </a:tbl>
          </a:graphicData>
        </a:graphic>
      </p:graphicFrame>
      <p:pic>
        <p:nvPicPr>
          <p:cNvPr id="6" name="Picture 5" descr="brahmaputra_reach.png"/>
          <p:cNvPicPr>
            <a:picLocks noChangeAspect="1"/>
          </p:cNvPicPr>
          <p:nvPr/>
        </p:nvPicPr>
        <p:blipFill>
          <a:blip r:embed="rId2"/>
          <a:stretch>
            <a:fillRect/>
          </a:stretch>
        </p:blipFill>
        <p:spPr>
          <a:xfrm>
            <a:off x="4846320" y="2468880"/>
            <a:ext cx="3840480" cy="228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
            <a:ext cx="8229600" cy="274320"/>
          </a:xfrm>
          <a:prstGeom prst="rect">
            <a:avLst/>
          </a:prstGeom>
          <a:noFill/>
        </p:spPr>
        <p:txBody>
          <a:bodyPr wrap="square">
            <a:spAutoFit/>
          </a:bodyPr>
          <a:lstStyle/>
          <a:p>
            <a:pPr>
              <a:defRPr sz="900" b="1">
                <a:solidFill>
                  <a:srgbClr val="0EA5E9"/>
                </a:solidFill>
                <a:latin typeface="Arial"/>
              </a:defRPr>
            </a:pPr>
            <a:r>
              <a:t>MIGRATION ANALYSIS</a:t>
            </a:r>
          </a:p>
        </p:txBody>
      </p:sp>
      <p:sp>
        <p:nvSpPr>
          <p:cNvPr id="3" name="TextBox 2"/>
          <p:cNvSpPr txBox="1"/>
          <p:nvPr/>
        </p:nvSpPr>
        <p:spPr>
          <a:xfrm>
            <a:off x="457200" y="365760"/>
            <a:ext cx="8229600" cy="548640"/>
          </a:xfrm>
          <a:prstGeom prst="rect">
            <a:avLst/>
          </a:prstGeom>
          <a:noFill/>
        </p:spPr>
        <p:txBody>
          <a:bodyPr wrap="square">
            <a:spAutoFit/>
          </a:bodyPr>
          <a:lstStyle/>
          <a:p>
            <a:pPr>
              <a:defRPr sz="2200" b="1">
                <a:solidFill>
                  <a:srgbClr val="F1F5F9"/>
                </a:solidFill>
                <a:latin typeface="Arial"/>
              </a:defRPr>
            </a:pPr>
            <a:r>
              <a:t>Problem 2: Multi-Temporal Channel Migration</a:t>
            </a:r>
          </a:p>
        </p:txBody>
      </p:sp>
      <p:pic>
        <p:nvPicPr>
          <p:cNvPr id="4" name="Picture 3" descr="river_migration_map.png"/>
          <p:cNvPicPr>
            <a:picLocks noChangeAspect="1"/>
          </p:cNvPicPr>
          <p:nvPr/>
        </p:nvPicPr>
        <p:blipFill>
          <a:blip r:embed="rId2"/>
          <a:stretch>
            <a:fillRect/>
          </a:stretch>
        </p:blipFill>
        <p:spPr>
          <a:xfrm>
            <a:off x="457200" y="1188720"/>
            <a:ext cx="4114800" cy="3474720"/>
          </a:xfrm>
          <a:prstGeom prst="rect">
            <a:avLst/>
          </a:prstGeom>
        </p:spPr>
      </p:pic>
      <p:sp>
        <p:nvSpPr>
          <p:cNvPr id="5" name="TextBox 4"/>
          <p:cNvSpPr txBox="1"/>
          <p:nvPr/>
        </p:nvSpPr>
        <p:spPr>
          <a:xfrm>
            <a:off x="4846320" y="1188720"/>
            <a:ext cx="3840480" cy="3474720"/>
          </a:xfrm>
          <a:prstGeom prst="rect">
            <a:avLst/>
          </a:prstGeom>
          <a:noFill/>
        </p:spPr>
        <p:txBody>
          <a:bodyPr wrap="square">
            <a:spAutoFit/>
          </a:bodyPr>
          <a:lstStyle/>
          <a:p>
            <a:pPr>
              <a:defRPr b="1" sz="1400">
                <a:solidFill>
                  <a:srgbClr val="0EA5E9"/>
                </a:solidFill>
              </a:defRPr>
            </a:pPr>
            <a:r>
              <a:t>Mapping Migration Dynamics</a:t>
            </a:r>
          </a:p>
          <a:p>
            <a:pPr>
              <a:spcBef>
                <a:spcPts val="800"/>
              </a:spcBef>
              <a:defRPr sz="1100">
                <a:solidFill>
                  <a:srgbClr val="F1F5F9"/>
                </a:solidFill>
              </a:defRPr>
            </a:pPr>
            <a:r>
              <a:t>• Stable Channels (Blue): Shows the persistent, deep main channels of the Brahmaputra River that remained flooded in both years.</a:t>
            </a:r>
          </a:p>
          <a:p>
            <a:pPr>
              <a:spcBef>
                <a:spcPts val="800"/>
              </a:spcBef>
              <a:defRPr sz="1100">
                <a:solidFill>
                  <a:srgbClr val="F1F5F9"/>
                </a:solidFill>
              </a:defRPr>
            </a:pPr>
            <a:r>
              <a:t>• Accretion Zone (Green): Highlights areas where water changed to land. These are newly formed or expanded sandbars (chars) due to deposition.</a:t>
            </a:r>
          </a:p>
          <a:p>
            <a:pPr>
              <a:spcBef>
                <a:spcPts val="800"/>
              </a:spcBef>
              <a:defRPr sz="1100">
                <a:solidFill>
                  <a:srgbClr val="F1F5F9"/>
                </a:solidFill>
              </a:defRPr>
            </a:pPr>
            <a:r>
              <a:t>• Erosion Zone (Red): Indicates bank collapse and channel shifting where land became water. This occurs primarily on outer bends.</a:t>
            </a:r>
          </a:p>
          <a:p>
            <a:pPr>
              <a:spcBef>
                <a:spcPts val="800"/>
              </a:spcBef>
              <a:defRPr sz="1100">
                <a:solidFill>
                  <a:srgbClr val="F1F5F9"/>
                </a:solidFill>
              </a:defRPr>
            </a:pPr>
            <a:r>
              <a:t>• Dynamic Nature: The map illustrates high channel lateral mobility, reflecting the braided nature of the Brahmaputra, which has high sediment loads and highly erodible banks.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
            <a:ext cx="8229600" cy="274320"/>
          </a:xfrm>
          <a:prstGeom prst="rect">
            <a:avLst/>
          </a:prstGeom>
          <a:noFill/>
        </p:spPr>
        <p:txBody>
          <a:bodyPr wrap="square">
            <a:spAutoFit/>
          </a:bodyPr>
          <a:lstStyle/>
          <a:p>
            <a:pPr>
              <a:defRPr sz="900" b="1">
                <a:solidFill>
                  <a:srgbClr val="0EA5E9"/>
                </a:solidFill>
                <a:latin typeface="Arial"/>
              </a:defRPr>
            </a:pPr>
            <a:r>
              <a:t>SCOUR DEPTH ANALYSIS</a:t>
            </a:r>
          </a:p>
        </p:txBody>
      </p:sp>
      <p:sp>
        <p:nvSpPr>
          <p:cNvPr id="3" name="TextBox 2"/>
          <p:cNvSpPr txBox="1"/>
          <p:nvPr/>
        </p:nvSpPr>
        <p:spPr>
          <a:xfrm>
            <a:off x="457200" y="365760"/>
            <a:ext cx="8229600" cy="548640"/>
          </a:xfrm>
          <a:prstGeom prst="rect">
            <a:avLst/>
          </a:prstGeom>
          <a:noFill/>
        </p:spPr>
        <p:txBody>
          <a:bodyPr wrap="square">
            <a:spAutoFit/>
          </a:bodyPr>
          <a:lstStyle/>
          <a:p>
            <a:pPr>
              <a:defRPr sz="2200" b="1">
                <a:solidFill>
                  <a:srgbClr val="F1F5F9"/>
                </a:solidFill>
                <a:latin typeface="Arial"/>
              </a:defRPr>
            </a:pPr>
            <a:r>
              <a:t>Problem 3: Comparative Scour Depth Estimation</a:t>
            </a:r>
          </a:p>
        </p:txBody>
      </p:sp>
      <p:sp>
        <p:nvSpPr>
          <p:cNvPr id="4" name="TextBox 3"/>
          <p:cNvSpPr txBox="1"/>
          <p:nvPr/>
        </p:nvSpPr>
        <p:spPr>
          <a:xfrm>
            <a:off x="457200" y="1188720"/>
            <a:ext cx="4389120" cy="3474720"/>
          </a:xfrm>
          <a:prstGeom prst="rect">
            <a:avLst/>
          </a:prstGeom>
          <a:noFill/>
        </p:spPr>
        <p:txBody>
          <a:bodyPr wrap="square">
            <a:spAutoFit/>
          </a:bodyPr>
          <a:lstStyle/>
          <a:p>
            <a:pPr>
              <a:defRPr b="1" sz="1400">
                <a:solidFill>
                  <a:srgbClr val="0EA5E9"/>
                </a:solidFill>
              </a:defRPr>
            </a:pPr>
            <a:r>
              <a:t>Scour Estimations (Design Q = 30,000 m³/s)</a:t>
            </a:r>
          </a:p>
          <a:p>
            <a:pPr>
              <a:spcBef>
                <a:spcPts val="12960"/>
              </a:spcBef>
              <a:defRPr b="1" sz="1100">
                <a:solidFill>
                  <a:srgbClr val="00FF88"/>
                </a:solidFill>
              </a:defRPr>
            </a:pPr>
            <a:r>
              <a:t>Note on multipliers:</a:t>
            </a:r>
          </a:p>
          <a:p>
            <a:pPr>
              <a:spcBef>
                <a:spcPts val="400"/>
              </a:spcBef>
              <a:defRPr sz="1100">
                <a:solidFill>
                  <a:srgbClr val="F1F5F9"/>
                </a:solidFill>
              </a:defRPr>
            </a:pPr>
            <a:r>
              <a:t>• Severe Bends experience a 2.0x multiplier on normal scour depth due to helicoidal flow structures that concentrate shear stress.</a:t>
            </a:r>
          </a:p>
          <a:p>
            <a:pPr>
              <a:spcBef>
                <a:spcPts val="400"/>
              </a:spcBef>
              <a:defRPr sz="1100">
                <a:solidFill>
                  <a:srgbClr val="F1F5F9"/>
                </a:solidFill>
              </a:defRPr>
            </a:pPr>
            <a:r>
              <a:t>• Blench's method results in 13-15% lower scour estimations than Lacey's method across all zones.</a:t>
            </a:r>
          </a:p>
        </p:txBody>
      </p:sp>
      <p:graphicFrame>
        <p:nvGraphicFramePr>
          <p:cNvPr id="5" name="Table 4"/>
          <p:cNvGraphicFramePr>
            <a:graphicFrameLocks noGrp="1"/>
          </p:cNvGraphicFramePr>
          <p:nvPr/>
        </p:nvGraphicFramePr>
        <p:xfrm>
          <a:off x="457200" y="1645920"/>
          <a:ext cx="4389120" cy="1371600"/>
        </p:xfrm>
        <a:graphic>
          <a:graphicData uri="http://schemas.openxmlformats.org/drawingml/2006/table">
            <a:tbl>
              <a:tblPr firstRow="1" bandRow="1">
                <a:tableStyleId>{5C22544A-7EE6-4342-B048-85BDC9FD1C3A}</a:tableStyleId>
              </a:tblPr>
              <a:tblGrid>
                <a:gridCol w="1463040"/>
                <a:gridCol w="1463040"/>
                <a:gridCol w="1463040"/>
              </a:tblGrid>
              <a:tr h="342900">
                <a:tc>
                  <a:txBody>
                    <a:bodyPr/>
                    <a:lstStyle/>
                    <a:p>
                      <a:pPr>
                        <a:defRPr b="1" sz="900">
                          <a:solidFill>
                            <a:srgbClr val="0EA5E9"/>
                          </a:solidFill>
                        </a:defRPr>
                      </a:pPr>
                      <a:r>
                        <a:t>Zone</a:t>
                      </a:r>
                    </a:p>
                  </a:txBody>
                  <a:tcPr>
                    <a:solidFill>
                      <a:srgbClr val="1E293B"/>
                    </a:solidFill>
                  </a:tcPr>
                </a:tc>
                <a:tc>
                  <a:txBody>
                    <a:bodyPr/>
                    <a:lstStyle/>
                    <a:p>
                      <a:pPr>
                        <a:defRPr b="1" sz="900">
                          <a:solidFill>
                            <a:srgbClr val="0EA5E9"/>
                          </a:solidFill>
                        </a:defRPr>
                      </a:pPr>
                      <a:r>
                        <a:t>Lacey Scour (m)</a:t>
                      </a:r>
                    </a:p>
                  </a:txBody>
                  <a:tcPr>
                    <a:solidFill>
                      <a:srgbClr val="1E293B"/>
                    </a:solidFill>
                  </a:tcPr>
                </a:tc>
                <a:tc>
                  <a:txBody>
                    <a:bodyPr/>
                    <a:lstStyle/>
                    <a:p>
                      <a:pPr>
                        <a:defRPr b="1" sz="900">
                          <a:solidFill>
                            <a:srgbClr val="0EA5E9"/>
                          </a:solidFill>
                        </a:defRPr>
                      </a:pPr>
                      <a:r>
                        <a:t>Blench Scour (m)</a:t>
                      </a:r>
                    </a:p>
                  </a:txBody>
                  <a:tcPr>
                    <a:solidFill>
                      <a:srgbClr val="1E293B"/>
                    </a:solidFill>
                  </a:tcPr>
                </a:tc>
              </a:tr>
              <a:tr h="342900">
                <a:tc>
                  <a:txBody>
                    <a:bodyPr/>
                    <a:lstStyle/>
                    <a:p>
                      <a:pPr>
                        <a:defRPr sz="900">
                          <a:solidFill>
                            <a:srgbClr val="F1F5F9"/>
                          </a:solidFill>
                        </a:defRPr>
                      </a:pPr>
                      <a:r>
                        <a:t>Straight Reach (Stable)</a:t>
                      </a:r>
                    </a:p>
                  </a:txBody>
                  <a:tcPr>
                    <a:solidFill>
                      <a:srgbClr val="1E293B"/>
                    </a:solidFill>
                  </a:tcPr>
                </a:tc>
                <a:tc>
                  <a:txBody>
                    <a:bodyPr/>
                    <a:lstStyle/>
                    <a:p>
                      <a:pPr>
                        <a:defRPr sz="900">
                          <a:solidFill>
                            <a:srgbClr val="F1F5F9"/>
                          </a:solidFill>
                        </a:defRPr>
                      </a:pPr>
                      <a:r>
                        <a:t>8.73</a:t>
                      </a:r>
                    </a:p>
                  </a:txBody>
                  <a:tcPr>
                    <a:solidFill>
                      <a:srgbClr val="1E293B"/>
                    </a:solidFill>
                  </a:tcPr>
                </a:tc>
                <a:tc>
                  <a:txBody>
                    <a:bodyPr/>
                    <a:lstStyle/>
                    <a:p>
                      <a:pPr>
                        <a:defRPr sz="900">
                          <a:solidFill>
                            <a:srgbClr val="F1F5F9"/>
                          </a:solidFill>
                        </a:defRPr>
                      </a:pPr>
                      <a:r>
                        <a:t>7.56</a:t>
                      </a:r>
                    </a:p>
                  </a:txBody>
                  <a:tcPr>
                    <a:solidFill>
                      <a:srgbClr val="1E293B"/>
                    </a:solidFill>
                  </a:tcPr>
                </a:tc>
              </a:tr>
              <a:tr h="342900">
                <a:tc>
                  <a:txBody>
                    <a:bodyPr/>
                    <a:lstStyle/>
                    <a:p>
                      <a:pPr>
                        <a:defRPr sz="900">
                          <a:solidFill>
                            <a:srgbClr val="F1F5F9"/>
                          </a:solidFill>
                        </a:defRPr>
                      </a:pPr>
                      <a:r>
                        <a:t>Moderate Bend</a:t>
                      </a:r>
                    </a:p>
                  </a:txBody>
                  <a:tcPr>
                    <a:solidFill>
                      <a:srgbClr val="1E293B"/>
                    </a:solidFill>
                  </a:tcPr>
                </a:tc>
                <a:tc>
                  <a:txBody>
                    <a:bodyPr/>
                    <a:lstStyle/>
                    <a:p>
                      <a:pPr>
                        <a:defRPr sz="900">
                          <a:solidFill>
                            <a:srgbClr val="F1F5F9"/>
                          </a:solidFill>
                        </a:defRPr>
                      </a:pPr>
                      <a:r>
                        <a:t>10.31</a:t>
                      </a:r>
                    </a:p>
                  </a:txBody>
                  <a:tcPr>
                    <a:solidFill>
                      <a:srgbClr val="1E293B"/>
                    </a:solidFill>
                  </a:tcPr>
                </a:tc>
                <a:tc>
                  <a:txBody>
                    <a:bodyPr/>
                    <a:lstStyle/>
                    <a:p>
                      <a:pPr>
                        <a:defRPr sz="900">
                          <a:solidFill>
                            <a:srgbClr val="F1F5F9"/>
                          </a:solidFill>
                        </a:defRPr>
                      </a:pPr>
                      <a:r>
                        <a:t>8.93</a:t>
                      </a:r>
                    </a:p>
                  </a:txBody>
                  <a:tcPr>
                    <a:solidFill>
                      <a:srgbClr val="1E293B"/>
                    </a:solidFill>
                  </a:tcPr>
                </a:tc>
              </a:tr>
              <a:tr h="342900">
                <a:tc>
                  <a:txBody>
                    <a:bodyPr/>
                    <a:lstStyle/>
                    <a:p>
                      <a:pPr>
                        <a:defRPr sz="900">
                          <a:solidFill>
                            <a:srgbClr val="F1F5F9"/>
                          </a:solidFill>
                        </a:defRPr>
                      </a:pPr>
                      <a:r>
                        <a:t>Severe Bend (Erosion Zone)</a:t>
                      </a:r>
                    </a:p>
                  </a:txBody>
                  <a:tcPr>
                    <a:solidFill>
                      <a:srgbClr val="1E293B"/>
                    </a:solidFill>
                  </a:tcPr>
                </a:tc>
                <a:tc>
                  <a:txBody>
                    <a:bodyPr/>
                    <a:lstStyle/>
                    <a:p>
                      <a:pPr>
                        <a:defRPr sz="900">
                          <a:solidFill>
                            <a:srgbClr val="F1F5F9"/>
                          </a:solidFill>
                        </a:defRPr>
                      </a:pPr>
                      <a:r>
                        <a:t>13.74</a:t>
                      </a:r>
                    </a:p>
                  </a:txBody>
                  <a:tcPr>
                    <a:solidFill>
                      <a:srgbClr val="1E293B"/>
                    </a:solidFill>
                  </a:tcPr>
                </a:tc>
                <a:tc>
                  <a:txBody>
                    <a:bodyPr/>
                    <a:lstStyle/>
                    <a:p>
                      <a:pPr>
                        <a:defRPr sz="900">
                          <a:solidFill>
                            <a:srgbClr val="F1F5F9"/>
                          </a:solidFill>
                        </a:defRPr>
                      </a:pPr>
                      <a:r>
                        <a:t>11.91</a:t>
                      </a:r>
                    </a:p>
                  </a:txBody>
                  <a:tcPr>
                    <a:solidFill>
                      <a:srgbClr val="1E293B"/>
                    </a:solidFill>
                  </a:tcPr>
                </a:tc>
              </a:tr>
            </a:tbl>
          </a:graphicData>
        </a:graphic>
      </p:graphicFrame>
      <p:pic>
        <p:nvPicPr>
          <p:cNvPr id="6" name="Picture 5" descr="scour_comparison.png"/>
          <p:cNvPicPr>
            <a:picLocks noChangeAspect="1"/>
          </p:cNvPicPr>
          <p:nvPr/>
        </p:nvPicPr>
        <p:blipFill>
          <a:blip r:embed="rId2"/>
          <a:stretch>
            <a:fillRect/>
          </a:stretch>
        </p:blipFill>
        <p:spPr>
          <a:xfrm>
            <a:off x="4937760" y="1188720"/>
            <a:ext cx="3749039" cy="34747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
            <a:ext cx="8229600" cy="274320"/>
          </a:xfrm>
          <a:prstGeom prst="rect">
            <a:avLst/>
          </a:prstGeom>
          <a:noFill/>
        </p:spPr>
        <p:txBody>
          <a:bodyPr wrap="square">
            <a:spAutoFit/>
          </a:bodyPr>
          <a:lstStyle/>
          <a:p>
            <a:pPr>
              <a:defRPr sz="900" b="1">
                <a:solidFill>
                  <a:srgbClr val="0EA5E9"/>
                </a:solidFill>
                <a:latin typeface="Arial"/>
              </a:defRPr>
            </a:pPr>
            <a:r>
              <a:t>CRITICAL EVALUATION</a:t>
            </a:r>
          </a:p>
        </p:txBody>
      </p:sp>
      <p:sp>
        <p:nvSpPr>
          <p:cNvPr id="3" name="TextBox 2"/>
          <p:cNvSpPr txBox="1"/>
          <p:nvPr/>
        </p:nvSpPr>
        <p:spPr>
          <a:xfrm>
            <a:off x="457200" y="365760"/>
            <a:ext cx="8229600" cy="548640"/>
          </a:xfrm>
          <a:prstGeom prst="rect">
            <a:avLst/>
          </a:prstGeom>
          <a:noFill/>
        </p:spPr>
        <p:txBody>
          <a:bodyPr wrap="square">
            <a:spAutoFit/>
          </a:bodyPr>
          <a:lstStyle/>
          <a:p>
            <a:pPr>
              <a:defRPr sz="2200" b="1">
                <a:solidFill>
                  <a:srgbClr val="F1F5F9"/>
                </a:solidFill>
                <a:latin typeface="Arial"/>
              </a:defRPr>
            </a:pPr>
            <a:r>
              <a:t>Critical Evaluation of Estimations</a:t>
            </a:r>
          </a:p>
        </p:txBody>
      </p:sp>
      <p:sp>
        <p:nvSpPr>
          <p:cNvPr id="4" name="TextBox 3"/>
          <p:cNvSpPr txBox="1"/>
          <p:nvPr/>
        </p:nvSpPr>
        <p:spPr>
          <a:xfrm>
            <a:off x="457200" y="1188720"/>
            <a:ext cx="8229600" cy="3474720"/>
          </a:xfrm>
          <a:prstGeom prst="rect">
            <a:avLst/>
          </a:prstGeom>
          <a:noFill/>
        </p:spPr>
        <p:txBody>
          <a:bodyPr wrap="square">
            <a:spAutoFit/>
          </a:bodyPr>
          <a:lstStyle/>
          <a:p/>
          <a:p>
            <a:pPr>
              <a:spcBef>
                <a:spcPts val="1000"/>
              </a:spcBef>
              <a:defRPr b="1" sz="1300">
                <a:solidFill>
                  <a:srgbClr val="0EA5E9"/>
                </a:solidFill>
              </a:defRPr>
            </a:pPr>
            <a:r>
              <a:t>Lacey's Regime Method - Conservatism &amp; Code Standards</a:t>
            </a:r>
          </a:p>
          <a:p>
            <a:pPr>
              <a:spcBef>
                <a:spcPts val="300"/>
              </a:spcBef>
              <a:defRPr sz="1100">
                <a:solidFill>
                  <a:srgbClr val="F1F5F9"/>
                </a:solidFill>
              </a:defRPr>
            </a:pPr>
            <a:r>
              <a:t>Lacey's method remains the standard in Indian practice (IRC:89, IS:13757). It assumes an idealized regime channel with constant discharge and uniform silt factor. By yielding higher scour depth estimates (e.g., 13.75m vs. 11.91m in severe bends), Lacey provides a conservative safety margin for bridge foundation design, which is essential given the unpredictable, highly turbulent flood flows of the Brahmaputra.</a:t>
            </a:r>
          </a:p>
          <a:p>
            <a:pPr>
              <a:spcBef>
                <a:spcPts val="1000"/>
              </a:spcBef>
              <a:defRPr b="1" sz="1300">
                <a:solidFill>
                  <a:srgbClr val="0EA5E9"/>
                </a:solidFill>
              </a:defRPr>
            </a:pPr>
            <a:r>
              <a:t>Blench's Method - Physics &amp; Side Factors</a:t>
            </a:r>
          </a:p>
          <a:p>
            <a:pPr>
              <a:spcBef>
                <a:spcPts val="300"/>
              </a:spcBef>
              <a:defRPr sz="1100">
                <a:solidFill>
                  <a:srgbClr val="F1F5F9"/>
                </a:solidFill>
              </a:defRPr>
            </a:pPr>
            <a:r>
              <a:t>Blench's method separates the bed factor (Fb) and side factor. It is physically more realistic for sand-bed rivers with cohesive banks because it acknowledges that bed and bank materials do not behave identically. However, Blench requires detailed bank materials data to estimate side factors, making it harder to calibrate, whereas Lacey's single silt factor requires only d50.</a:t>
            </a:r>
          </a:p>
          <a:p>
            <a:pPr>
              <a:spcBef>
                <a:spcPts val="1000"/>
              </a:spcBef>
              <a:defRPr b="1" sz="1300">
                <a:solidFill>
                  <a:srgbClr val="0EA5E9"/>
                </a:solidFill>
              </a:defRPr>
            </a:pPr>
            <a:r>
              <a:t>2D Morphological Integration</a:t>
            </a:r>
          </a:p>
          <a:p>
            <a:pPr>
              <a:spcBef>
                <a:spcPts val="300"/>
              </a:spcBef>
              <a:defRPr sz="1100">
                <a:solidFill>
                  <a:srgbClr val="F1F5F9"/>
                </a:solidFill>
              </a:defRPr>
            </a:pPr>
            <a:r>
              <a:t>Scour calculations are traditionally 1D approximations. Integrating 2D morphological data from Sentinel-2 allows us to locate severe outer bends (erosion zones) and apply spatial safety multipliers. Standard 1D calculations should not be used in isolation; they must be guided by temporal satellite mapping to locate active migration hotspots.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
            <a:ext cx="8229600" cy="274320"/>
          </a:xfrm>
          <a:prstGeom prst="rect">
            <a:avLst/>
          </a:prstGeom>
          <a:noFill/>
        </p:spPr>
        <p:txBody>
          <a:bodyPr wrap="square">
            <a:spAutoFit/>
          </a:bodyPr>
          <a:lstStyle/>
          <a:p>
            <a:pPr>
              <a:defRPr sz="900" b="1">
                <a:solidFill>
                  <a:srgbClr val="0EA5E9"/>
                </a:solidFill>
                <a:latin typeface="Arial"/>
              </a:defRPr>
            </a:pPr>
            <a:r>
              <a:t>RECOMMENDATIONS</a:t>
            </a:r>
          </a:p>
        </p:txBody>
      </p:sp>
      <p:sp>
        <p:nvSpPr>
          <p:cNvPr id="3" name="TextBox 2"/>
          <p:cNvSpPr txBox="1"/>
          <p:nvPr/>
        </p:nvSpPr>
        <p:spPr>
          <a:xfrm>
            <a:off x="457200" y="365760"/>
            <a:ext cx="8229600" cy="548640"/>
          </a:xfrm>
          <a:prstGeom prst="rect">
            <a:avLst/>
          </a:prstGeom>
          <a:noFill/>
        </p:spPr>
        <p:txBody>
          <a:bodyPr wrap="square">
            <a:spAutoFit/>
          </a:bodyPr>
          <a:lstStyle/>
          <a:p>
            <a:pPr>
              <a:defRPr sz="2200" b="1">
                <a:solidFill>
                  <a:srgbClr val="F1F5F9"/>
                </a:solidFill>
                <a:latin typeface="Arial"/>
              </a:defRPr>
            </a:pPr>
            <a:r>
              <a:t>Conclusions &amp; Engineering Recommendations</a:t>
            </a:r>
          </a:p>
        </p:txBody>
      </p:sp>
      <p:sp>
        <p:nvSpPr>
          <p:cNvPr id="4" name="TextBox 3"/>
          <p:cNvSpPr txBox="1"/>
          <p:nvPr/>
        </p:nvSpPr>
        <p:spPr>
          <a:xfrm>
            <a:off x="457200" y="1188720"/>
            <a:ext cx="8229600" cy="3474720"/>
          </a:xfrm>
          <a:prstGeom prst="rect">
            <a:avLst/>
          </a:prstGeom>
          <a:noFill/>
        </p:spPr>
        <p:txBody>
          <a:bodyPr wrap="square">
            <a:spAutoFit/>
          </a:bodyPr>
          <a:lstStyle/>
          <a:p/>
          <a:p>
            <a:pPr>
              <a:spcBef>
                <a:spcPts val="1000"/>
              </a:spcBef>
              <a:defRPr b="1" sz="1300">
                <a:solidFill>
                  <a:srgbClr val="00FF88"/>
                </a:solidFill>
              </a:defRPr>
            </a:pPr>
            <a:r>
              <a:t>Spatial Targeting of Protection Works</a:t>
            </a:r>
          </a:p>
          <a:p>
            <a:pPr>
              <a:spcBef>
                <a:spcPts val="300"/>
              </a:spcBef>
              <a:defRPr sz="1100">
                <a:solidFill>
                  <a:srgbClr val="F1F5F9"/>
                </a:solidFill>
              </a:defRPr>
            </a:pPr>
            <a:r>
              <a:t>Guide bunds, bank revetments, and spurs should be dynamically targeted at the red 'Erosion Zones' mapped during satellite analysis, rather than uniformly along the reach, yielding huge cost savings.</a:t>
            </a:r>
          </a:p>
          <a:p>
            <a:pPr>
              <a:spcBef>
                <a:spcPts val="1000"/>
              </a:spcBef>
              <a:defRPr b="1" sz="1300">
                <a:solidFill>
                  <a:srgbClr val="00FF88"/>
                </a:solidFill>
              </a:defRPr>
            </a:pPr>
            <a:r>
              <a:t>Adaptive Foundation Depth for Structures</a:t>
            </a:r>
          </a:p>
          <a:p>
            <a:pPr>
              <a:spcBef>
                <a:spcPts val="300"/>
              </a:spcBef>
              <a:defRPr sz="1100">
                <a:solidFill>
                  <a:srgbClr val="F1F5F9"/>
                </a:solidFill>
              </a:defRPr>
            </a:pPr>
            <a:r>
              <a:t>For any proposed bridges or river crossing structures, foundations must be designed using the severe bend scour depth (13.75 m below HFL using Lacey) rather than the straight reach value (8.73 m), as lateral channel migration can turn a straight reach into a bend over a few monsoon cycles.</a:t>
            </a:r>
          </a:p>
          <a:p>
            <a:pPr>
              <a:spcBef>
                <a:spcPts val="1000"/>
              </a:spcBef>
              <a:defRPr b="1" sz="1300">
                <a:solidFill>
                  <a:srgbClr val="00FF88"/>
                </a:solidFill>
              </a:defRPr>
            </a:pPr>
            <a:r>
              <a:t>Continuous Satellite Monitoring</a:t>
            </a:r>
          </a:p>
          <a:p>
            <a:pPr>
              <a:spcBef>
                <a:spcPts val="300"/>
              </a:spcBef>
              <a:defRPr sz="1100">
                <a:solidFill>
                  <a:srgbClr val="F1F5F9"/>
                </a:solidFill>
              </a:defRPr>
            </a:pPr>
            <a:r>
              <a:t>Due to the highly dynamic nature of the sandbars (chars) mapped in green, annual low-flow satellite imagery should be analyzed to update the migration map and anticipate new bank erosion hotspots before the monsoon floods occur.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